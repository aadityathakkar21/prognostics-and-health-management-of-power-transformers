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3b28fba07_2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b3b28fba07_2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fa34b7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aafa34b7a7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3b28fba07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b3b28fba07_2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afa34b7a7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afa34b7a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afa34b7a7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afa34b7a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fa34b7a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afa34b7a7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fa34b7a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aafa34b7a7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afa34b7a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aafa34b7a7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3b28fba07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3b28fba0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afa34b7a7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afa34b7a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3b28fba07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3b28fba0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3b28fba07_2_2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3b28fba07_2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afa34b7a7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afa34b7a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3b28fba07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3b28fba07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fa34b7a7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afa34b7a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3b28fba07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3b28fba07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3b28fba07_1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3b28fba07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afa34b7a7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afa34b7a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afa34b7a7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afa34b7a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3b28fba07_1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3b28fba07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3b28fba07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3b28fba07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3b28fba07_2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b3b28fba07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3b28fba07_2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3b28fba07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3b28fba07_2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3b28fba07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fa34b7a7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afa34b7a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1176348"/>
            <a:ext cx="8229600" cy="24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Informer: Beyond Efficient Transformer for Long Sequence Time-Series Forecasting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836000" y="4495800"/>
            <a:ext cx="3850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US" sz="2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Authors: Haoy</a:t>
            </a:r>
            <a:r>
              <a:rPr lang="en-US" sz="2620"/>
              <a:t>i Zhou</a:t>
            </a:r>
            <a:r>
              <a:rPr lang="en-US" sz="317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al.</a:t>
            </a:r>
            <a:endParaRPr sz="2620"/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26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Long Sequence Time-Series Forecasting (LSTF)?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8923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Forecasting hundreds or thousands of future time steps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for power systems, weather, traffic, finance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strong long-range dependency modeling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 errors compound rapidly with longer horizons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Existing Models Fail at LSTF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RNNs suffer from vanishing gradients and error accumulation.</a:t>
            </a:r>
            <a:endParaRPr sz="2500"/>
          </a:p>
          <a:p>
            <a:pPr indent="-29845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CNNs have a limited effective receptive field for modeling long-range temporal dependencies.</a:t>
            </a:r>
            <a:endParaRPr sz="2500"/>
          </a:p>
          <a:p>
            <a:pPr indent="-29845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Existing methods are mostly designed under short-term problem setting, like predicting 48 points or less.</a:t>
            </a:r>
            <a:endParaRPr sz="2500"/>
          </a:p>
          <a:p>
            <a:pPr indent="-29845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Recently, Transformer models have shown superior performance in capturing long-range dependency than RNN models.</a:t>
            </a:r>
            <a:endParaRPr sz="2500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Existing Models Fail at LSTF</a:t>
            </a:r>
            <a:endParaRPr/>
          </a:p>
        </p:txBody>
      </p:sp>
      <p:pic>
        <p:nvPicPr>
          <p:cNvPr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098" y="1548600"/>
            <a:ext cx="7129825" cy="460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Existing Models Fail at LSTF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907" lvl="0" marL="4572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509"/>
              <a:buChar char="•"/>
            </a:pPr>
            <a:r>
              <a:rPr lang="en-US" sz="2508"/>
              <a:t>Self-attention shortens dependency paths to O(1), avoiding recurrence and enabling long-range dependency modeling.</a:t>
            </a:r>
            <a:br>
              <a:rPr lang="en-US" sz="2508"/>
            </a:br>
            <a:endParaRPr sz="2508"/>
          </a:p>
          <a:p>
            <a:pPr indent="-387907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9"/>
              <a:buChar char="•"/>
            </a:pPr>
            <a:r>
              <a:rPr lang="en-US" sz="2508"/>
              <a:t>However, standard self-attention incurs O(L²) time and memory complexity, making Transformers impractical for long input/output sequences.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Transformer Potential and Limitations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508"/>
              <a:t>Transformers theoretically model long-range dependencies well.</a:t>
            </a:r>
            <a:endParaRPr sz="2508"/>
          </a:p>
          <a:p>
            <a:pPr indent="0" lvl="0" mar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508"/>
              <a:t>Vanilla Transformer has three significant limitations in solving LSTF problem:</a:t>
            </a:r>
            <a:endParaRPr sz="2508"/>
          </a:p>
          <a:p>
            <a:pPr indent="-350125" lvl="0" marL="4572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14"/>
              <a:buChar char="•"/>
            </a:pPr>
            <a:r>
              <a:rPr lang="en-US" sz="2508"/>
              <a:t>Self-attention incurs O(L²) time and memory complexity</a:t>
            </a:r>
            <a:endParaRPr sz="2508"/>
          </a:p>
          <a:p>
            <a:pPr indent="-3501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14"/>
              <a:buChar char="•"/>
            </a:pPr>
            <a:r>
              <a:rPr lang="en-US" sz="2508"/>
              <a:t>The memory bottleneck in stacking layers for long inputs. The stack of J encoder/decoder layers makes total memory usage to be O(J · L</a:t>
            </a:r>
            <a:r>
              <a:rPr baseline="30000" lang="en-US" sz="2508"/>
              <a:t>2</a:t>
            </a:r>
            <a:r>
              <a:rPr lang="en-US" sz="2508"/>
              <a:t>).</a:t>
            </a:r>
            <a:endParaRPr sz="2508"/>
          </a:p>
          <a:p>
            <a:pPr indent="-3501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14"/>
              <a:buChar char="•"/>
            </a:pPr>
            <a:r>
              <a:rPr lang="en-US" sz="2508"/>
              <a:t>The speed plunge in predicting long outputs. Dynamic decoding of vanilla Transformer makes the step-by-step inference as slow as RNN-based model.</a:t>
            </a:r>
            <a:endParaRPr sz="2508"/>
          </a:p>
          <a:p>
            <a:pPr indent="0" lvl="0" mar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-US" sz="2508"/>
              <a:t>Therefore, vanilla Transformers are impractical for LSTF.</a:t>
            </a:r>
            <a:endParaRPr b="1" sz="131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3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Informer: Core Idea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Transformer efficiency </a:t>
            </a:r>
            <a:r>
              <a:rPr lang="en-US" sz="2500"/>
              <a:t>and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prediction capacity</a:t>
            </a:r>
            <a:endParaRPr sz="2500"/>
          </a:p>
          <a:p>
            <a:pPr indent="-38735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500"/>
              <a:buChar char="•"/>
            </a:pPr>
            <a:r>
              <a:rPr lang="en-US" sz="2500" u="sng"/>
              <a:t>ProbSparse self-attention</a:t>
            </a:r>
            <a:r>
              <a:rPr lang="en-US" sz="2500"/>
              <a:t> mechanism efficiently replaces the canonical self-attention. It achieves the O(Llog L) time complexity and O(Llog L) memory usage on dependency alignments.</a:t>
            </a:r>
            <a:endParaRPr sz="2500"/>
          </a:p>
          <a:p>
            <a:pPr indent="-38735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500"/>
              <a:buChar char="•"/>
            </a:pPr>
            <a:r>
              <a:rPr lang="en-US" sz="2500" u="sng"/>
              <a:t>Self-attention distilling</a:t>
            </a:r>
            <a:r>
              <a:rPr lang="en-US" sz="2500"/>
              <a:t> operation to privilege dominating attention scores in J-stacking layers and sharply reduce the total space complexity to be O((2 − ϵ)Llog L), which helps receiving long sequence input.</a:t>
            </a:r>
            <a:endParaRPr sz="2500"/>
          </a:p>
          <a:p>
            <a:pPr indent="-387350" lvl="0" marL="3429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 u="sng"/>
              <a:t>Generative style decoder</a:t>
            </a:r>
            <a:r>
              <a:rPr lang="en-US" sz="2500"/>
              <a:t> to acquire long sequence output with only one forward step needed, simultaneously avoiding cumulative error spreading during the inference phase.</a:t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Informer: Core Idea</a:t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998" y="1417651"/>
            <a:ext cx="5494026" cy="49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Efficient Self-attention Mechanism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Canonical Self-Attention:</a:t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2984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The Quadratic Bottleneck: Standard self-attention relies on a scaled dot-product A(Q,K,V) = Softmax(QK</a:t>
            </a:r>
            <a:r>
              <a:rPr baseline="30000" lang="en-US" sz="2500"/>
              <a:t>T</a:t>
            </a:r>
            <a:r>
              <a:rPr lang="en-US" sz="2500"/>
              <a:t>/√d)V.</a:t>
            </a:r>
            <a:endParaRPr sz="2500"/>
          </a:p>
          <a:p>
            <a:pPr indent="-2984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This requires O(L</a:t>
            </a:r>
            <a:r>
              <a:rPr baseline="30000" lang="en-US" sz="2500"/>
              <a:t>2</a:t>
            </a:r>
            <a:r>
              <a:rPr lang="en-US" sz="2500"/>
              <a:t>) time complexity and memory usage, making it unaffordable for real-world Long Sequence Time-Series Forecasting (LSTF) involving massive sensor data.</a:t>
            </a:r>
            <a:endParaRPr sz="2500"/>
          </a:p>
          <a:p>
            <a:pPr indent="-2984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This inefficienc</a:t>
            </a:r>
            <a:r>
              <a:rPr lang="en-US" sz="2500"/>
              <a:t>y</a:t>
            </a:r>
            <a:r>
              <a:rPr lang="en-US" sz="2500"/>
              <a:t> treats all queries equally, even though many contribute only "trivial" attention</a:t>
            </a:r>
            <a:endParaRPr sz="250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Efficient Self-attention Mechanism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Qualitative assessments show that self-attention probability distributions are naturally sparse.</a:t>
            </a:r>
            <a:endParaRPr sz="2500"/>
          </a:p>
          <a:p>
            <a:pPr indent="-2984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Dominating Pairs are only a small number of dot-product pairs and contribute to the majority of the attention, while others form a "long tail" of insignificant values.</a:t>
            </a:r>
            <a:endParaRPr sz="2500"/>
          </a:p>
          <a:p>
            <a:pPr indent="-2984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The Goal should be to distinguish important queries from trivial ones to reduce the computational load.</a:t>
            </a:r>
            <a:endParaRPr sz="250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Sparsity Measurement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Measuring "Importance": The model uses Kullback-Leibler (KL) divergence to measure how much a query’s attention distribution (p) differs from a uniform distribution (q).</a:t>
            </a:r>
            <a:endParaRPr sz="2500"/>
          </a:p>
          <a:p>
            <a:pPr indent="-29845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If a query's attention is close to a uniform distribution, it is redundant; if it is "diverse" (larger M score), it has a high chance of containing the dominating dot-product pairs.</a:t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50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725" y="4217163"/>
            <a:ext cx="550545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457200" y="5353925"/>
            <a:ext cx="82296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500"/>
              <a:t>Note: This measures the Log-Sum-Exp vs. the arithmetic mean of the dot products.</a:t>
            </a:r>
            <a:endParaRPr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ProbSparse Self-Attention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Selective Querying instead of a full query-key lookup helps ProbSparse to allow each key to attend only to the Top-</a:t>
            </a:r>
            <a:r>
              <a:rPr i="1" lang="en-US" sz="2500"/>
              <a:t>u </a:t>
            </a:r>
            <a:r>
              <a:rPr lang="en-US" sz="2500"/>
              <a:t>dominant queries.</a:t>
            </a:r>
            <a:endParaRPr sz="2500"/>
          </a:p>
          <a:p>
            <a:pPr indent="-29845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The mechanism creates a sparse matrix Q that is the same size as the original Q, but only contains the queries with the highest sparsity measurement (M) scores.</a:t>
            </a:r>
            <a:endParaRPr sz="2500"/>
          </a:p>
          <a:p>
            <a:pPr indent="-3873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Controlled by a constant sampling factor (c), where the number of selected queries is defined as </a:t>
            </a:r>
            <a:r>
              <a:rPr i="1" lang="en-US" sz="2500"/>
              <a:t>u </a:t>
            </a:r>
            <a:r>
              <a:rPr lang="en-US" sz="2500"/>
              <a:t>= c⋅lnL</a:t>
            </a:r>
            <a:r>
              <a:rPr baseline="-25000" lang="en-US" sz="2500"/>
              <a:t>Q</a:t>
            </a:r>
            <a:r>
              <a:rPr lang="en-US" sz="2500"/>
              <a:t>, which makes the ProbSparse self attention only need to calculate O(lnL</a:t>
            </a:r>
            <a:r>
              <a:rPr baseline="-25000" lang="en-US" sz="2500"/>
              <a:t>Q</a:t>
            </a:r>
            <a:r>
              <a:rPr lang="en-US" sz="2500"/>
              <a:t>) dot-product for each query-key lookup and the layer memory usage maintains O(L</a:t>
            </a:r>
            <a:r>
              <a:rPr baseline="-25000" lang="en-US" sz="2500"/>
              <a:t>K</a:t>
            </a:r>
            <a:r>
              <a:rPr lang="en-US" sz="2500"/>
              <a:t> lnL</a:t>
            </a:r>
            <a:r>
              <a:rPr baseline="-25000" lang="en-US" sz="2500"/>
              <a:t>Q</a:t>
            </a:r>
            <a:r>
              <a:rPr lang="en-US" sz="2500"/>
              <a:t>).</a:t>
            </a:r>
            <a:endParaRPr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ProbSparse Self-Attention</a:t>
            </a:r>
            <a:endParaRPr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Controlled by a constant sampling factor (c), where the number of selected queries is defined as </a:t>
            </a:r>
            <a:r>
              <a:rPr i="1" lang="en-US" sz="2500"/>
              <a:t>u </a:t>
            </a:r>
            <a:r>
              <a:rPr lang="en-US" sz="2500"/>
              <a:t>= c⋅lnL</a:t>
            </a:r>
            <a:r>
              <a:rPr baseline="-25000" lang="en-US" sz="2500"/>
              <a:t>Q</a:t>
            </a:r>
            <a:r>
              <a:rPr lang="en-US" sz="2500"/>
              <a:t>, which makes the ProbSparse self attention only need to calculate O(lnL</a:t>
            </a:r>
            <a:r>
              <a:rPr baseline="-25000" lang="en-US" sz="2500"/>
              <a:t>Q</a:t>
            </a:r>
            <a:r>
              <a:rPr lang="en-US" sz="2500"/>
              <a:t>) dot-product for each query-key lookup and the layer memory usage maintains O(</a:t>
            </a:r>
            <a:r>
              <a:rPr lang="en-US" sz="2500"/>
              <a:t>L</a:t>
            </a:r>
            <a:r>
              <a:rPr baseline="-25000" lang="en-US" sz="2500"/>
              <a:t>K</a:t>
            </a:r>
            <a:r>
              <a:rPr lang="en-US" sz="2500"/>
              <a:t>lnL</a:t>
            </a:r>
            <a:r>
              <a:rPr baseline="-25000" lang="en-US" sz="2500"/>
              <a:t>Q</a:t>
            </a:r>
            <a:r>
              <a:rPr lang="en-US" sz="2500"/>
              <a:t>).</a:t>
            </a:r>
            <a:endParaRPr sz="2500"/>
          </a:p>
          <a:p>
            <a:pPr indent="-3873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The Challenge: Calculating the measurement M for every query would still be O(L2)</a:t>
            </a:r>
            <a:endParaRPr i="1" sz="2500">
              <a:solidFill>
                <a:srgbClr val="C7C7C7"/>
              </a:solidFill>
              <a:highlight>
                <a:srgbClr val="22262B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500">
              <a:solidFill>
                <a:srgbClr val="C7C7C7"/>
              </a:solidFill>
              <a:highlight>
                <a:srgbClr val="22262B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ProbSparse Self-Attention</a:t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Calculating the measurement M for every query would still be O(L</a:t>
            </a:r>
            <a:r>
              <a:rPr baseline="30000" lang="en-US" sz="2500"/>
              <a:t>2</a:t>
            </a:r>
            <a:r>
              <a:rPr lang="en-US" sz="2500"/>
              <a:t>)</a:t>
            </a:r>
            <a:endParaRPr sz="25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Based on the upper bound in Lemma 1, the authors propose a "boundary relaxation" called the </a:t>
            </a:r>
            <a:r>
              <a:rPr lang="en-US" sz="2500" u="sng"/>
              <a:t>Max-Mean measurement</a:t>
            </a:r>
            <a:endParaRPr sz="2500" u="sng"/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425" y="5307950"/>
            <a:ext cx="59531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6000" y="2619375"/>
            <a:ext cx="723900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ProbSparse Self-Attention</a:t>
            </a:r>
            <a:endParaRPr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Under the "long tail" assumption (where most data is trivial), the model only needs to randomly sample a small number of dot-product pairs (U = L</a:t>
            </a:r>
            <a:r>
              <a:rPr baseline="-25000" lang="en-US" sz="2500"/>
              <a:t>K</a:t>
            </a:r>
            <a:r>
              <a:rPr lang="en-US" sz="2500"/>
              <a:t>lnL</a:t>
            </a:r>
            <a:r>
              <a:rPr baseline="-25000" lang="en-US" sz="2500"/>
              <a:t>Q</a:t>
            </a:r>
            <a:r>
              <a:rPr lang="en-US" sz="2500"/>
              <a:t>) to calculate these scores.</a:t>
            </a:r>
            <a:endParaRPr sz="2500"/>
          </a:p>
          <a:p>
            <a:pPr indent="-3873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The model fills the non-sampled pairs with zeros and selects only the Top-u highest-scoring queries to move forward.</a:t>
            </a:r>
            <a:endParaRPr sz="2500"/>
          </a:p>
          <a:p>
            <a:pPr indent="-3873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Final Complexity: When the input lengths are equal (L</a:t>
            </a:r>
            <a:r>
              <a:rPr baseline="-25000" lang="en-US" sz="2500"/>
              <a:t>Q</a:t>
            </a:r>
            <a:r>
              <a:rPr lang="en-US" sz="2500"/>
              <a:t>=L</a:t>
            </a:r>
            <a:r>
              <a:rPr baseline="-25000" lang="en-US" sz="2500"/>
              <a:t>K</a:t>
            </a:r>
            <a:r>
              <a:rPr lang="en-US" sz="2500"/>
              <a:t>=L), this strategy successfully reduces both time and memory usage to O(LlnL)</a:t>
            </a:r>
            <a:endParaRPr sz="2500"/>
          </a:p>
          <a:p>
            <a:pPr indent="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Encoder</a:t>
            </a:r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03788"/>
            <a:ext cx="8839199" cy="3826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Encoder</a:t>
            </a:r>
            <a:endParaRPr/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Combines Scalar values (e.g., temperature) and Stamps (temporal information) to enhance global positional and local temporal context</a:t>
            </a:r>
            <a:endParaRPr sz="2500"/>
          </a:p>
          <a:p>
            <a:pPr indent="-3873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 u="sng"/>
              <a:t>Self-attention Distilling</a:t>
            </a:r>
            <a:r>
              <a:rPr lang="en-US" sz="2500"/>
              <a:t>:</a:t>
            </a:r>
            <a:r>
              <a:rPr lang="en-US" sz="2500"/>
              <a:t> Privilege the superior combination with dominating features and make a focused self-attention feature map in the next layer.</a:t>
            </a:r>
            <a:endParaRPr sz="2500"/>
          </a:p>
          <a:p>
            <a:pPr indent="-3873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Distilling</a:t>
            </a:r>
            <a:r>
              <a:rPr lang="en-US" sz="2500"/>
              <a:t> sharply trims the input's time dimension to manage memory limitations.</a:t>
            </a:r>
            <a:endParaRPr sz="105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Encoder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US" sz="2500"/>
              <a:t>• The Mechanism:</a:t>
            </a: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lang="en-US" sz="2500"/>
              <a:t>Distilling Operation: Forwards information between layers using a specific sequence: </a:t>
            </a:r>
            <a:endParaRPr sz="25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5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lang="en-US" sz="2500"/>
              <a:t>Conv1d Component: Performs 1D convolutional filters with a kernel width of 3 on the time dimension.</a:t>
            </a: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lang="en-US" sz="2500"/>
              <a:t>Max-Pooling: Employs a stride of 2 to halve the sequence length after each layer, effectively "distilling" the feature map into its most superior components.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475" y="2913200"/>
            <a:ext cx="4479062" cy="4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Encoder</a:t>
            </a:r>
            <a:endParaRPr/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• Efficiency Impact:</a:t>
            </a:r>
            <a:endParaRPr sz="2500"/>
          </a:p>
          <a:p>
            <a:pPr indent="-387350" lvl="0" marL="457200" marR="0" rtl="0" algn="l"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lang="en-US" sz="2500"/>
              <a:t>Reduces total space complexity to O((2−ϵ)LlogL), making the model scalable for extremely long inputs.</a:t>
            </a:r>
            <a:endParaRPr sz="2500"/>
          </a:p>
          <a:p>
            <a:pPr indent="-387350" lvl="0" marL="457200" marR="0" rtl="0" algn="l"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lang="en-US" sz="2500"/>
              <a:t>Prevents Out-of-Memory failures that occur in non-distilling models during long-sequence processing.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Decoder</a:t>
            </a:r>
            <a:endParaRPr/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2225"/>
              <a:t>The decoder is designed to produce long-sequence outputs instantly, avoiding the slow, step-by-step process of traditional models.</a:t>
            </a:r>
            <a:endParaRPr sz="2225"/>
          </a:p>
          <a:p>
            <a:pPr indent="-369887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25"/>
              <a:buChar char="•"/>
            </a:pPr>
            <a:r>
              <a:rPr lang="en-US" sz="2225"/>
              <a:t>Input Composition (X</a:t>
            </a:r>
            <a:r>
              <a:rPr baseline="-25000" lang="en-US" sz="2225"/>
              <a:t>de</a:t>
            </a:r>
            <a:r>
              <a:rPr lang="en-US" sz="2225"/>
              <a:t>): The decoder is fed a combined vector consisting of:</a:t>
            </a:r>
            <a:endParaRPr sz="2225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2225"/>
              <a:t>    1. Start Token (X</a:t>
            </a:r>
            <a:r>
              <a:rPr baseline="-25000" lang="en-US" sz="2225"/>
              <a:t>token</a:t>
            </a:r>
            <a:r>
              <a:rPr lang="en-US" sz="2225"/>
              <a:t>): A known historical slice.</a:t>
            </a:r>
            <a:endParaRPr sz="2225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2225"/>
              <a:t>    2. Placeholder (X</a:t>
            </a:r>
            <a:r>
              <a:rPr baseline="-25000" lang="en-US" sz="2225"/>
              <a:t>0</a:t>
            </a:r>
            <a:r>
              <a:rPr lang="en-US" sz="2225"/>
              <a:t>): A series of zeros for the target sequence.</a:t>
            </a:r>
            <a:endParaRPr sz="2225"/>
          </a:p>
          <a:p>
            <a:pPr indent="-369887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25"/>
              <a:buChar char="•"/>
            </a:pPr>
            <a:r>
              <a:rPr lang="en-US" sz="2225"/>
              <a:t>Layer Structure: It contains a stack of two identical multi-head attention layers.</a:t>
            </a:r>
            <a:endParaRPr sz="2225"/>
          </a:p>
          <a:p>
            <a:pPr indent="-369887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25"/>
              <a:buChar char="➔"/>
            </a:pPr>
            <a:r>
              <a:rPr lang="en-US" sz="2225"/>
              <a:t>Masked ProbSparse Self-Attention: This processes the decoder's own input while masking "future" positions (setting their scores to −∞) to prevent the model from seeing the values it is trying to predict during training.</a:t>
            </a:r>
            <a:endParaRPr sz="282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Decoder</a:t>
            </a:r>
            <a:endParaRPr/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300"/>
              <a:buChar char="➔"/>
            </a:pPr>
            <a:r>
              <a:rPr lang="en-US" sz="2300"/>
              <a:t>Multi-head Attention (Encoder-Decoder Attention): This layer measures the weighted attention composition of the feature map provided by the encoder</a:t>
            </a:r>
            <a:endParaRPr sz="2300"/>
          </a:p>
          <a:p>
            <a:pPr indent="-3746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 u="sng"/>
              <a:t>Generative Inference</a:t>
            </a:r>
            <a:r>
              <a:rPr lang="en-US" sz="2300"/>
              <a:t> is the most significant departure from vanilla Transformers. Instead of "dynamic decoding" (predicting one point, then using it to predict the next), the Informer uses a generative style to predict the entire long sequence in one single forward step.</a:t>
            </a:r>
            <a:endParaRPr sz="2300"/>
          </a:p>
          <a:p>
            <a:pPr indent="-3746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The results are passed through a Fully Connected Layer, which adjusts the output size based on whether the task is univariate or multivariate forecasting.</a:t>
            </a:r>
            <a:endParaRPr sz="2300"/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62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Datasets and Benchmarks</a:t>
            </a:r>
            <a:endParaRPr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spcBef>
                <a:spcPts val="36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ETT (Electricity Transformer Temperature): 2 years of data (hourly and 15-min granularities) including oil temperature and 6 power load features.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ECL (Electricity Consuming Load): It collects the electricity consumption (Kwh) of 321 clients.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Weather: local climatological data for nearly 1,600 U.S. locations.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Metrics: Mean Squared Error (MSE) and Mean Absolute Error (MAE).</a:t>
            </a:r>
            <a:endParaRPr sz="2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Forecasting Results</a:t>
            </a:r>
            <a:endParaRPr/>
          </a:p>
        </p:txBody>
      </p:sp>
      <p:pic>
        <p:nvPicPr>
          <p:cNvPr id="223" name="Google Shape;2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7650"/>
            <a:ext cx="8064732" cy="508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Forecasting Results</a:t>
            </a:r>
            <a:endParaRPr/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400" y="1417638"/>
            <a:ext cx="7093176" cy="5135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&amp; Analysis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Informer significantly outperforms RNNs (LSTMa), CNNs (LSTnet), and other Transformer variants (Reformer, LogTrans).</a:t>
            </a: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Univariate Finding: MSE decreased by up to 60.1% compared to LSTMa at 720-point horizons.</a:t>
            </a: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Multivariate Finding: Informer is easily adaptable to multivariate cases by adjusting the final fully connected layer (FCN).</a:t>
            </a: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Generative decoding is much faster than the step-by-step decoding used in the Reformer and vanilla Transformer.</a:t>
            </a:r>
            <a:endParaRPr sz="250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Tuning for Robustness</a:t>
            </a:r>
            <a:endParaRPr/>
          </a:p>
        </p:txBody>
      </p:sp>
      <p:pic>
        <p:nvPicPr>
          <p:cNvPr id="241" name="Google Shape;24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975" y="1417650"/>
            <a:ext cx="7650051" cy="50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Tuning for Robustness</a:t>
            </a:r>
            <a:endParaRPr/>
          </a:p>
        </p:txBody>
      </p:sp>
      <p:sp>
        <p:nvSpPr>
          <p:cNvPr id="247" name="Google Shape;247;p3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75443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500"/>
              <a:t>Optimising Input Length (Lx,Ltoken):</a:t>
            </a:r>
            <a:endParaRPr sz="2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-US" sz="2500"/>
              <a:t>The model's performance is sensitive to the length of the encoder input and the decoder's start token. A longer encoder input captures more dependencies, while a longer decoder token provides rich local information.</a:t>
            </a:r>
            <a:endParaRPr sz="2500"/>
          </a:p>
          <a:p>
            <a:pPr indent="-375443" lvl="0" marL="457200" rtl="0" algn="l">
              <a:spcBef>
                <a:spcPts val="360"/>
              </a:spcBef>
              <a:spcAft>
                <a:spcPts val="0"/>
              </a:spcAft>
              <a:buSzPct val="100000"/>
              <a:buChar char="●"/>
            </a:pPr>
            <a:r>
              <a:rPr lang="en-US" sz="2500"/>
              <a:t>Tuning the Sampling Factor (c):</a:t>
            </a:r>
            <a:endParaRPr sz="2500"/>
          </a:p>
          <a:p>
            <a:pPr indent="-37544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US" sz="2500"/>
              <a:t>This factor controls the information bandwidth of the ProbSparse self-attention mechanism.</a:t>
            </a:r>
            <a:endParaRPr sz="2500"/>
          </a:p>
          <a:p>
            <a:pPr indent="-37544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US" sz="2500"/>
              <a:t>Experiments show that performance generally increases with the sampling factor before stabilising at c=5.</a:t>
            </a:r>
            <a:endParaRPr sz="2500"/>
          </a:p>
          <a:p>
            <a:pPr indent="-37544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US" sz="2500"/>
              <a:t>This stability verifies the query sparsity assumption, confirming that there are redundant dot-product pairs in the attention mechanism that do not need to be calculated.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Tuning for Robustness</a:t>
            </a:r>
            <a:endParaRPr/>
          </a:p>
        </p:txBody>
      </p:sp>
      <p:sp>
        <p:nvSpPr>
          <p:cNvPr id="253" name="Google Shape;253;p4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500"/>
              <a:t>• Layer Stacking Strategy:</a:t>
            </a: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500"/>
              <a:buChar char="➔"/>
            </a:pPr>
            <a:r>
              <a:rPr lang="en-US" sz="2500"/>
              <a:t>The Informer uses layer stacking replicas to increase the robustness of the encoder.</a:t>
            </a: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lang="en-US" sz="2500"/>
              <a:t>Replicas are designed to be complementary to the self-attention distilling operation, helping the model handle different input scales.</a:t>
            </a: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lang="en-US" sz="2500"/>
              <a:t>Sensitivity analysis of different stack combinations ({L,L/2,L/4}) reveals that the longer stack is more sensitive to inputs due to receiving more long-term information.</a:t>
            </a: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lang="en-US" sz="2500"/>
              <a:t>The selection of joining L and L/4 stacks was determined to be the most robust strategy for the Informer.</a:t>
            </a:r>
            <a:endParaRPr b="1" sz="105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Ablation</a:t>
            </a:r>
            <a:r>
              <a:rPr lang="en-US"/>
              <a:t> Study</a:t>
            </a:r>
            <a:endParaRPr/>
          </a:p>
        </p:txBody>
      </p:sp>
      <p:pic>
        <p:nvPicPr>
          <p:cNvPr id="259" name="Google Shape;2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50" y="1348025"/>
            <a:ext cx="5313626" cy="323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4100" y="4189925"/>
            <a:ext cx="3845076" cy="232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Ablation</a:t>
            </a:r>
            <a:r>
              <a:rPr lang="en-US"/>
              <a:t> Study</a:t>
            </a:r>
            <a:endParaRPr/>
          </a:p>
        </p:txBody>
      </p:sp>
      <p:sp>
        <p:nvSpPr>
          <p:cNvPr id="266" name="Google Shape;266;p4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rPr lang="en-US" sz="2300"/>
              <a:t>• Informer was compared against LogTrans and Reformer using restricted settings (lower batch size and dim) to isolate memory usage.</a:t>
            </a:r>
            <a:endParaRPr sz="2300"/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rPr lang="en-US" sz="2300"/>
              <a:t>• Key Findings (from Table 3):</a:t>
            </a:r>
            <a:endParaRPr sz="2300"/>
          </a:p>
          <a:p>
            <a:pPr indent="-374650" lvl="0" marL="4572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300"/>
              <a:buChar char="➔"/>
            </a:pPr>
            <a:r>
              <a:rPr lang="en-US" sz="2300"/>
              <a:t>Superior Accuracy: ProbSparse attention consistently showed better MSE/MAE scores than its counterparts across various prediction lengths.</a:t>
            </a:r>
            <a:endParaRPr sz="2300"/>
          </a:p>
          <a:p>
            <a:pPr indent="-3746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➔"/>
            </a:pPr>
            <a:r>
              <a:rPr lang="en-US" sz="2300"/>
              <a:t>Extreme Scalability: While LogTrans and the canonical version (Informer†) suffered Out-of-Memory (OOM) failures at input lengths of 1440 and 2880, the Informer remained stable and functional.</a:t>
            </a:r>
            <a:endParaRPr sz="2300"/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rPr lang="en-US" sz="2300"/>
              <a:t>• The query sparsity assumption is not just a theoretical shortcut; it is the primary reason the Informer can process extreme long-range dependencies that other models simply cannot fit into memory.</a:t>
            </a:r>
            <a:endParaRPr sz="230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230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Ablation Study</a:t>
            </a:r>
            <a:endParaRPr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rPr lang="en-US" sz="2325"/>
              <a:t>• Informer† (canonical) vs. Informer‡ (the same model but with distilling removed).</a:t>
            </a:r>
            <a:endParaRPr sz="2325"/>
          </a:p>
          <a:p>
            <a:pPr indent="0" lvl="0" marL="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rPr lang="en-US" sz="2325"/>
              <a:t>    ◦ The "Wall": Without the distilling operation to "trim" the data, Informer‡ reached OOM failures as soon as input sequences exceeded 720 points.</a:t>
            </a:r>
            <a:endParaRPr sz="2325"/>
          </a:p>
          <a:p>
            <a:pPr indent="0" lvl="0" marL="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rPr lang="en-US" sz="2325"/>
              <a:t>    ◦ This proves that distilling is essential for LSTF, as it allows the model to handle massive inputs by discarding redundant features.</a:t>
            </a:r>
            <a:endParaRPr sz="2325"/>
          </a:p>
          <a:p>
            <a:pPr indent="0" lvl="0" marL="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325"/>
          </a:p>
          <a:p>
            <a:pPr indent="0" lvl="0" marL="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rPr lang="en-US" sz="2325"/>
              <a:t>• Informer‡ (generative) vs. Informer§ (standard step-by-step dynamic decoding).</a:t>
            </a:r>
            <a:endParaRPr sz="2325"/>
          </a:p>
          <a:p>
            <a:pPr indent="0" lvl="0" marL="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rPr lang="en-US" sz="2325"/>
              <a:t>    ◦ The models' ability to predict with a "time offset" (predicting further and further into the future).</a:t>
            </a:r>
            <a:endParaRPr sz="2325"/>
          </a:p>
          <a:p>
            <a:pPr indent="0" lvl="0" marL="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rPr lang="en-US" sz="2325"/>
              <a:t>    ◦ The generative decoder resisted error accumulation even as the offset increased, while the dynamic decoder’s performance became "unacceptable" almost immediately.</a:t>
            </a:r>
            <a:endParaRPr sz="1092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78" name="Google Shape;278;p4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Informer successfully enhances LSTF capacity through ProbSparse attention, distilling, and generative decoding.</a:t>
            </a: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Efficiency: Achieves O(LlogL) complexity, making long-sequence forecasting affordable on standard hardware.</a:t>
            </a: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Has real world value as it prevents irreversible failures in power stations by providing actionable, long-term maintenance insights.</a:t>
            </a:r>
            <a:endParaRPr sz="1050">
              <a:solidFill>
                <a:srgbClr val="C7C7C7"/>
              </a:solidFill>
              <a:highlight>
                <a:srgbClr val="22262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