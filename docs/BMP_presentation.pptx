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005fc39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e005fc3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adbc560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cadbc560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adbc560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adbc560c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adbc560cc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adbc560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adbc560c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adbc560c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adbc560cc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adbc560c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adbc560cc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adbc560c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adbc560cc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adbc560c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adbc560c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adbc560c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adbc560cc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adbc560c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adbc560cc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adbc560c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adbc560cc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adbc560c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adbc560cc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adbc560c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adbc560cc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adbc560c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adbc560cc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adbc560c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005fc397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e005fc39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005fc397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e005fc39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005fc397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e005fc39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005fc397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005fc39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AadityaThakkar21/Prognostics-and-Health-Management-of-Power-Transformers/blob/main/main/dbscan_ridge.ipynb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adityaThakkar21/Prognostics-and-Health-Management-of-Power-Transformers/blob/main/main/randomforest_dga.ipyn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olab.research.google.com/drive/1mRH9hZTJWq5ZWzNfAcaZ-EbREjoV-82h?usp=sharing#scrollTo=SyM0AgT9UmrH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file/d/1DaOve0BENHbC_ux4NKFCkd9H0U6YgQ4s/view?usp=drive_link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8933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/>
              <a:t>Mentor: Manish Chaturvedi</a:t>
            </a:r>
            <a:endParaRPr sz="3000"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45424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Aaditya Thakkar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(202301417)</a:t>
            </a:r>
            <a:endParaRPr/>
          </a:p>
        </p:txBody>
      </p:sp>
      <p:sp>
        <p:nvSpPr>
          <p:cNvPr id="86" name="Google Shape;86;p13"/>
          <p:cNvSpPr txBox="1"/>
          <p:nvPr>
            <p:ph type="ctrTitle"/>
          </p:nvPr>
        </p:nvSpPr>
        <p:spPr>
          <a:xfrm>
            <a:off x="685800" y="1339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500"/>
              <a:t>Power Transformers Prognostics and Health Management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Contributions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36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Outlier Detection using DBSCAN &amp; Ridge Regression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Rogers Ratio and Random Forest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Preprocessing on DGA Dataset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/>
              <a:t>Health Index Calculations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Outlier </a:t>
            </a:r>
            <a:r>
              <a:rPr lang="en-US"/>
              <a:t>Detection</a:t>
            </a:r>
            <a:r>
              <a:rPr lang="en-US"/>
              <a:t> (Oil Temperature Dataset)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47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https://github.com/AadityaThakkar21/Prognostics-and-Health-Management-of-Power-Transformers/blob/main/main/dbscan_ridge.ipynb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Fields: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– Timestamp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HUFL, HULL – High Useful/Useless Load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MUFL, MULL – Middle Useful/Useless Load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LUFL, LULL – Low Useful/Useless Load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 – Oil Temperature (Target)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Dataset Meaning: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Load (Active Power): Current in phase with voltage → real work.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Useless Load (Reactive Power): Out of phase → no net work but increases current.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Heating Mechanism: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Copper Loss ∝ I²R → Both active and reactive current increase temperature.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Higher-level loads (HUFL, HULL) contribute most to heating.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Outlier Detection (Oil Temperature Dataset)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Feature Engineering: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Load Magnitudes: P_high, P_mid, P_low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Rolling statistics (6h, 12h, 24h)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2. Rare Load Detection (DBSCAN):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Epsilon selected via k-distance elbow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23 clusters detected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599 rare load points (3.44%)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3. Expected Temperature Modeling (Ridge Regression):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Best window: 24h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MAE: 6.48 | R²: 0.106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Residual threshold (95%): 16.24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Outlier Detection (Oil Temperature Dataset)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Anomaly Criteria: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DBSCAN Outliers → Rare Load States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High Residual → Unexpected Temperature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Final Anomaly = Rare Load + Unexpected Response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Results (Total: 17,420 samples):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Rare Load Points: 599 (3.44%)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High Residual Points: 856 (4.91%)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True Anomalies: 15 (0.09%)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Model Errors: 841 (4.83%)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Interpretation: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True anomalies may indicate degradation or abnormal operation.</a:t>
            </a:r>
            <a:endParaRPr/>
          </a:p>
          <a:p>
            <a:pPr indent="-25146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Model errors suggest seasonal drift or need for retraining.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Rogers Ratio &amp; Random Forest (DGA Dataset)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Code: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 u="sng">
                <a:solidFill>
                  <a:schemeClr val="hlink"/>
                </a:solidFill>
                <a:hlinkClick r:id="rId3"/>
              </a:rPr>
              <a:t>https://github.com/AadityaThakkar21/Prognostics-and-Health-Management-of-Power-Transformers/blob/main/main/randomforest_dga.ipynb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Feature Engineering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Computed Rogers Ratios: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R1 = C2H2 / C2H4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R2 = CH4 / H2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R3 = C2H4 / C2H6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Additional feature: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TotalGas = H2 + CH4 + C2H6 + C2H4 + C2H2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Final ML features: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R1, R2, R3, TotalGas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Rogers Ratio &amp; Random Forest (DGA Dataset)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600200"/>
            <a:ext cx="38085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1. Rogers Ratio Rule-Based Classification: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Implemented classical threshold logic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Categorizes into: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PD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Arcing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Low/Medium/High Temperature Overheating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Normal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Unknown/Other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/>
              <a:t>Limitation: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Many cases fall into "Unknown/Other"</a:t>
            </a:r>
            <a:endParaRPr sz="1750"/>
          </a:p>
          <a:p>
            <a:pPr indent="-3397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50"/>
              <a:buChar char="•"/>
            </a:pPr>
            <a:r>
              <a:rPr lang="en-US" sz="1750"/>
              <a:t>Hard thresholds → no flexibility</a:t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</p:txBody>
      </p:sp>
      <p:sp>
        <p:nvSpPr>
          <p:cNvPr id="123" name="Google Shape;123;p19"/>
          <p:cNvSpPr txBox="1"/>
          <p:nvPr/>
        </p:nvSpPr>
        <p:spPr>
          <a:xfrm>
            <a:off x="5120975" y="1600200"/>
            <a:ext cx="3652800" cy="4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Random Forest Classifier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Setup: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Train-test split: 80/20 (stratified)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StandardScaler applied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RandomForest (200 trees)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state fixed for reproducibility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non-linear boundaries beyond fixed Rogers thresholds.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Rogers Ratio &amp; Random Forest (DGA Dataset)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457200" y="1600200"/>
            <a:ext cx="38085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/>
              <a:t>1. Random Forest Performance</a:t>
            </a:r>
            <a:endParaRPr sz="17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/>
              <a:t>Accuracy: 84.7%</a:t>
            </a:r>
            <a:endParaRPr sz="17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/>
              <a:t>Strong class-wise performance: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Font typeface="Calibri"/>
              <a:buChar char="●"/>
            </a:pPr>
            <a:r>
              <a:rPr lang="en-US" sz="1750"/>
              <a:t>High Temp Overheating → 100% recall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Font typeface="Calibri"/>
              <a:buChar char="●"/>
            </a:pPr>
            <a:r>
              <a:rPr lang="en-US" sz="1750"/>
              <a:t>Low Temp Overheating → 95% recall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Font typeface="Calibri"/>
              <a:buChar char="●"/>
            </a:pPr>
            <a:r>
              <a:rPr lang="en-US" sz="1750"/>
              <a:t>Arcing → 87% recall</a:t>
            </a:r>
            <a:endParaRPr sz="17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/>
              <a:t>Weaker areas: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Font typeface="Calibri"/>
              <a:buChar char="●"/>
            </a:pPr>
            <a:r>
              <a:rPr lang="en-US" sz="1750"/>
              <a:t>Partial Discharge (67% recall)</a:t>
            </a:r>
            <a:endParaRPr sz="1750"/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Font typeface="Calibri"/>
              <a:buChar char="●"/>
            </a:pPr>
            <a:r>
              <a:rPr lang="en-US" sz="1750"/>
              <a:t>Low Energy Discharge (72% recall)</a:t>
            </a:r>
            <a:endParaRPr sz="1750"/>
          </a:p>
        </p:txBody>
      </p:sp>
      <p:sp>
        <p:nvSpPr>
          <p:cNvPr id="130" name="Google Shape;130;p20"/>
          <p:cNvSpPr txBox="1"/>
          <p:nvPr/>
        </p:nvSpPr>
        <p:spPr>
          <a:xfrm>
            <a:off x="5120975" y="1600200"/>
            <a:ext cx="3652800" cy="4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Rogers Method Accuracy 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Accuracy: 92.6%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only valid for 54 mapped rows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samples remain unmapped ("Unknown/Other")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b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Rogers performs well when rules match,</a:t>
            </a:r>
            <a:b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but lacks full coverage.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Rogers Ratio &amp; Random Forest (DGA Dataset)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088" y="1570038"/>
            <a:ext cx="6197817" cy="513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Rogers Ratio &amp; Random Forest (DGA Dataset)</a:t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513" y="1570038"/>
            <a:ext cx="6138972" cy="513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57200" y="1658675"/>
            <a:ext cx="8229600" cy="507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Code:</a:t>
            </a:r>
            <a:r>
              <a:rPr lang="en-US" sz="17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https://colab.research.google.com/drive/1mRH9hZTJWq5ZWzNfAcaZ-EbREjoV-82h?usp=sharing#scrollTo=SyM0AgT9UmrH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Hampel Filter Logic, for each point: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Compute rolling median (window centered)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Compute absolute deviation from median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Compute MAD (Median Absolute Deviation)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Define threshold:	Threshold = nσ×1.4826×MAD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(1.4826 scales MAD to be comparable with standard deviation under normal distribution)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AutoNum type="arabicPeriod" startAt="5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Mark point as outlier if:		∣x−median∣ &gt; |threshold|</a:t>
            </a:r>
            <a:endParaRPr sz="17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Kalman Pipeline 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Step 1: Detect Outliers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Rolling Z-score (window = 25)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Flag points where: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r>
              <a:rPr lang="en-US" sz="1750">
                <a:latin typeface="Arial"/>
                <a:ea typeface="Arial"/>
                <a:cs typeface="Arial"/>
                <a:sym typeface="Arial"/>
              </a:rPr>
              <a:t>	∣z∣&gt;3.5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Step 2: Replace Outliers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Mark detected points as missing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Fit SARIMAX (AR(1) model)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Use Kalman smoothing to estimate corrected values</a:t>
            </a:r>
            <a:endParaRPr sz="17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1513"/>
            <a:ext cx="8839197" cy="433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pic>
        <p:nvPicPr>
          <p:cNvPr id="166" name="Google Shape;1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19538"/>
            <a:ext cx="8839198" cy="4416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62988"/>
            <a:ext cx="8839197" cy="4229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Evaluation Metrics Used: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AutoNum type="arabicPeriod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Variance Reduction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Indicates noise suppression strength.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AutoNum type="arabicPeriod" startAt="2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Correlation (Original vs Corrected)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Measures signal preservation: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High correlation → minimal distortion</a:t>
            </a:r>
            <a:br>
              <a:rPr lang="en-US" sz="1750">
                <a:latin typeface="Arial"/>
                <a:ea typeface="Arial"/>
                <a:cs typeface="Arial"/>
                <a:sym typeface="Arial"/>
              </a:rPr>
            </a:b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Lower correlation → more aggressive smoothing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Preprocessing on Lancaster University Dataset (DGA Dataset)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863" y="2077513"/>
            <a:ext cx="30765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775" y="4398976"/>
            <a:ext cx="2952750" cy="18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3738" y="2077513"/>
            <a:ext cx="301942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Health Index Calculation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Paper: </a:t>
            </a:r>
            <a:r>
              <a:rPr lang="en-US" sz="1750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 Approach to Power Transformer Asset  Management Using Health Index</a:t>
            </a:r>
            <a:endParaRPr sz="175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Condition assessment and life-management techniques: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Dissolved gas analysis (DGA)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Oil quality tests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Recovery Voltage method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Excitation current test,	core-to-ground test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Turns ratio test, winding resistance test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Tap charger  tests (oil tests, contact resistance, motor current)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Bushing Tests (capacitance, tanδ)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Partial Discharge measurement 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Frequency  Response Analysis (FRA)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AutoNum type="arabicParenR"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Furan Analysis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Health Index Calculation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This paper describes a practical asset HI calculation method that combines the impact of all available data and also utilises criteria based on the industry’s common practices.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latin typeface="Arial"/>
                <a:ea typeface="Arial"/>
                <a:cs typeface="Arial"/>
                <a:sym typeface="Arial"/>
              </a:rPr>
              <a:t>Formula:</a:t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862" y="3273925"/>
            <a:ext cx="5024275" cy="17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Health Index Calculation</a:t>
            </a:r>
            <a:endParaRPr/>
          </a:p>
        </p:txBody>
      </p:sp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175" y="1417650"/>
            <a:ext cx="3262250" cy="530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Health Index Calculation</a:t>
            </a:r>
            <a:endParaRPr/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88" y="1930025"/>
            <a:ext cx="8938626" cy="409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